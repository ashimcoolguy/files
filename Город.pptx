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1"/>
  </p:notesMasterIdLst>
  <p:handoutMasterIdLst>
    <p:handoutMasterId r:id="rId12"/>
  </p:handoutMasterIdLst>
  <p:sldIdLst>
    <p:sldId id="257" r:id="rId2"/>
    <p:sldId id="259" r:id="rId3"/>
    <p:sldId id="260" r:id="rId4"/>
    <p:sldId id="261" r:id="rId5"/>
    <p:sldId id="265" r:id="rId6"/>
    <p:sldId id="262" r:id="rId7"/>
    <p:sldId id="263" r:id="rId8"/>
    <p:sldId id="264" r:id="rId9"/>
    <p:sldId id="266" r:id="rId10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E51D080-0FA4-452C-BE9C-57B885F95115}" type="datetime1">
              <a:rPr lang="ru-RU" smtClean="0"/>
              <a:t>12.10.2025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68A2903-BD5A-4833-B0CA-AB5B8165171B}" type="datetime1">
              <a:rPr lang="ru-RU" smtClean="0"/>
              <a:t>12.10.2025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  <a:endParaRPr lang="en-US"/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  <a:cs typeface="FreesiaUPC" panose="020B0502040204020203" pitchFamily="34" charset="-34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ru-RU"/>
              <a:t>Образец подзаголовка</a:t>
            </a:r>
            <a:endParaRPr lang="en-US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Дата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4DAEB3-2211-4CA3-9D23-0143FCF3926F}" type="datetime1">
              <a:rPr lang="ru-RU" smtClean="0"/>
              <a:t>12.10.2025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289488-0C23-4DC8-A9FA-240659547385}" type="datetime1">
              <a:rPr lang="ru-RU" smtClean="0"/>
              <a:t>12.10.2025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Дата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3EFA117-2261-4A1D-8BE7-0B7E6A1366C0}" type="datetime1">
              <a:rPr lang="ru-RU" smtClean="0"/>
              <a:t>12.10.2025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9279E9-B6DA-4AB3-A7CE-B748E56BEA69}" type="datetime1">
              <a:rPr lang="ru-RU" smtClean="0"/>
              <a:t>12.10.2025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CF7452-61A3-4CDC-ACAB-74E5B4A7EF57}" type="datetime1">
              <a:rPr lang="ru-RU" smtClean="0"/>
              <a:t>12.10.2025</a:t>
            </a:fld>
            <a:endParaRPr lang="en-US" dirty="0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Номер слайда 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D00952-BE77-47A2-BE29-2226E2D6BB12}" type="datetime1">
              <a:rPr lang="ru-RU" smtClean="0"/>
              <a:t>12.10.2025</a:t>
            </a:fld>
            <a:endParaRPr lang="en-US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4D5EF43-AECB-4459-AE90-3AFB54138C76}" type="datetime1">
              <a:rPr lang="ru-RU" smtClean="0"/>
              <a:t>12.10.2025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 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 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FD0FAC8F-653F-479B-B209-9F30C9091843}" type="datetime1">
              <a:rPr lang="ru-RU" smtClean="0"/>
              <a:t>12.10.2025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6FD9FC9-5FD1-4E3B-B719-212F55599717}" type="datetime1">
              <a:rPr lang="ru-RU" smtClean="0"/>
              <a:t>12.10.2025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2E9B35-0826-45CC-9C2C-707B22DFAA83}" type="datetime1">
              <a:rPr lang="ru-RU" smtClean="0"/>
              <a:t>12.10.2025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C0063D-EDF2-4190-A726-B9B651F864E7}" type="datetime1">
              <a:rPr lang="ru-RU" smtClean="0"/>
              <a:t>12.10.2025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" dirty="0"/>
              <a:t>Стиль образца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ru" dirty="0"/>
              <a:t>Щелкните, чтобы изменить стили текста образца слайда</a:t>
            </a:r>
          </a:p>
          <a:p>
            <a:pPr lvl="1" rtl="0"/>
            <a:r>
              <a:rPr lang="ru" dirty="0"/>
              <a:t>Второй уровень</a:t>
            </a:r>
          </a:p>
          <a:p>
            <a:pPr lvl="2" rtl="0"/>
            <a:r>
              <a:rPr lang="ru" dirty="0"/>
              <a:t>Третий уровень</a:t>
            </a:r>
          </a:p>
          <a:p>
            <a:pPr lvl="3" rtl="0"/>
            <a:r>
              <a:rPr lang="ru" dirty="0"/>
              <a:t>Четвертый уровень</a:t>
            </a:r>
          </a:p>
          <a:p>
            <a:pPr lvl="4" rtl="0"/>
            <a:r>
              <a:rPr lang="ru" dirty="0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fld id="{428A7F57-8526-4A03-89D8-FFB0245E6649}" type="datetime1">
              <a:rPr lang="ru-RU" smtClean="0"/>
              <a:t>12.10.2025</a:t>
            </a:fld>
            <a:endParaRPr lang="en-US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 rtlCol="0">
            <a:normAutofit/>
          </a:bodyPr>
          <a:lstStyle/>
          <a:p>
            <a:r>
              <a:rPr lang="ru-RU" sz="7200" dirty="0"/>
              <a:t>«Город»</a:t>
            </a:r>
            <a:endParaRPr lang="ru" sz="7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ru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Щотковский Константин, Шилкин Михаил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133946"/>
            <a:ext cx="4635315" cy="6991946"/>
          </a:xfrm>
          <a:prstGeom prst="rect">
            <a:avLst/>
          </a:prstGeom>
        </p:spPr>
      </p:pic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BBF532-D90D-3664-BC6D-985A6324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Территориальное устройство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6504AC-2E20-B120-99BB-0BA520891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Уникальная форма: «Корпоративно-анклавный конгломерат»</a:t>
            </a:r>
          </a:p>
          <a:p>
            <a:r>
              <a:rPr lang="ru-RU" dirty="0"/>
              <a:t>Государство не является единой территорией в традиционном понимании. Это сеть автономных районов, контролируемых разными Корпорациями и Синдикатами, объединенных под центральной властью Главы.</a:t>
            </a:r>
          </a:p>
          <a:p>
            <a:r>
              <a:rPr lang="ru-RU" dirty="0"/>
              <a:t>Столицы: район А (административная власть), район </a:t>
            </a:r>
            <a:r>
              <a:rPr lang="en-US" dirty="0"/>
              <a:t>B</a:t>
            </a:r>
            <a:r>
              <a:rPr lang="ru-RU" dirty="0"/>
              <a:t> (силовики)</a:t>
            </a:r>
          </a:p>
          <a:p>
            <a:r>
              <a:rPr lang="ru-RU" dirty="0"/>
              <a:t>Административное деление: Районы имеют собственные внутренние законы и системы управления, но подчиняются единым общегосударственным директивам.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BFACB0-710E-591D-4D7F-92F03728D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12.10.2025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690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278655-2067-30F6-06DF-DB0DA38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Форма правления и идеология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FAC217-A1C8-E237-AF53-7D5EDE314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Форма правления: Монархия (выборная/корпоративная)</a:t>
            </a:r>
            <a:r>
              <a:rPr lang="en-US" dirty="0"/>
              <a:t>: </a:t>
            </a:r>
          </a:p>
          <a:p>
            <a:r>
              <a:rPr lang="ru-RU" dirty="0"/>
              <a:t>Несмотря на монархический титул правителя («Глава»), наследование не является кровным. </a:t>
            </a:r>
          </a:p>
          <a:p>
            <a:r>
              <a:rPr lang="ru-RU" dirty="0"/>
              <a:t>Правительство: Формально — Абсолютная монархия. Глава обладает огромными полномочиями (объявление чрезвычайного положения, командование силами безопасности, издание указов)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C73155-C8D6-F94D-558F-92D8B885C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12.10.2025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646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E4842-D8B4-F986-31E0-1EEBBD73B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CEB71A-0205-F0FA-A64E-9B63F037F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Форма правления и идеология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D727A1-E185-F568-A374-E002FC979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Государственная идеология: «Авторитарный утилитаризм»</a:t>
            </a:r>
            <a:r>
              <a:rPr lang="en-US" dirty="0"/>
              <a:t>: </a:t>
            </a:r>
          </a:p>
          <a:p>
            <a:r>
              <a:rPr lang="ru-RU" dirty="0"/>
              <a:t>Тип общества: Автократическое. Вся власть сконцентрирована в руках одного лица (Главы) и поддерживающей его корпоративной элиты. Решения не оспариваются обществом, а контроль основан на сочетании силовой мощи и информационной пропаганды.</a:t>
            </a:r>
          </a:p>
          <a:p>
            <a:r>
              <a:rPr lang="ru-RU" dirty="0"/>
              <a:t>Цель государства: Максимальная эффективность и производство любой ценой. Благо государства (читай — правящей элиты) ставится выше блага отдельного человека.</a:t>
            </a:r>
          </a:p>
          <a:p>
            <a:r>
              <a:rPr lang="ru-RU" dirty="0"/>
              <a:t>Лозунг: «Стабильность через Порядок. Прогресс через Конкуренцию».</a:t>
            </a:r>
            <a:endParaRPr lang="en-US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9CFC89-4F38-9E5B-7CE4-6150842EC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12.10.2025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469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C3B285-5CB6-1BFC-1E08-2074CCE79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Карта</a:t>
            </a:r>
          </a:p>
        </p:txBody>
      </p:sp>
      <p:pic>
        <p:nvPicPr>
          <p:cNvPr id="6" name="Объект 5" descr="Изображение выглядит как снимок экрана, Каштановый, карта, искусство">
            <a:extLst>
              <a:ext uri="{FF2B5EF4-FFF2-40B4-BE49-F238E27FC236}">
                <a16:creationId xmlns:a16="http://schemas.microsoft.com/office/drawing/2014/main" id="{38AC006D-F2F4-27C6-9942-78FD4DB1E2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813" y="2042405"/>
            <a:ext cx="5319360" cy="3760788"/>
          </a:xfrm>
        </p:spPr>
      </p:pic>
      <p:sp>
        <p:nvSpPr>
          <p:cNvPr id="4" name="Дата 3">
            <a:extLst>
              <a:ext uri="{FF2B5EF4-FFF2-40B4-BE49-F238E27FC236}">
                <a16:creationId xmlns:a16="http://schemas.microsoft.com/office/drawing/2014/main" id="{36FDA526-2AF2-99FA-745C-54AD0E46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12.10.2025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712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45562-5B01-2269-5191-314C3F056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03FF03-988B-3944-1DEC-9ECAB56A6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Налоговая система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4E02E1-C062-4C38-05E2-47FBFF608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Прогрессивный НДФЛ: Как и в российской реформе 2025 года, действует прогрессивная шкала. Однако ставки крайне высоки: от 20% для низших служащих до 40-50% для высокооплачиваемых специалистов Корпораций. Это основной источник пополнения казны.</a:t>
            </a:r>
          </a:p>
          <a:p>
            <a:r>
              <a:rPr lang="ru-RU" dirty="0"/>
              <a:t>Корпоративный налог: Основная ставка для всех Корпораций и Синдикатов — 25% от прибыли. Зато те, кто лоялен правителю, получают «инвестиционные вычеты» и платят меньше.</a:t>
            </a:r>
          </a:p>
          <a:p>
            <a:r>
              <a:rPr lang="ru-RU" dirty="0"/>
              <a:t>Целевые сборы: 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Налог на безопасность: Обязательный платеж всех граждан и организаций на содержание сил безопасности Главы.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Налог на «нелояльность»: Штрафы для Корпораций или районов, проявивших неподчинение. Взимается в виде ресурсов, технологий.</a:t>
            </a:r>
            <a:endParaRPr lang="en-US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9D1AC9-FBB3-2864-B810-E5F027DEB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12.10.2025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152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CD1DB5-BF56-FE32-A370-30D1CACE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Районы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06D090-139A-F777-2D80-CA9EEC233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Каждый район — это государство в государстве, со своими правилами и атмосферой.</a:t>
            </a:r>
          </a:p>
          <a:p>
            <a:r>
              <a:rPr lang="ru-RU" dirty="0"/>
              <a:t>The </a:t>
            </a:r>
            <a:r>
              <a:rPr lang="ru-RU" dirty="0" err="1"/>
              <a:t>Backstreets</a:t>
            </a:r>
            <a:r>
              <a:rPr lang="ru-RU" dirty="0"/>
              <a:t> (Задворки) Местные синдикаты зона хаоса и анархии. Жизнь дешева, правила устанавливаются силой.</a:t>
            </a:r>
          </a:p>
          <a:p>
            <a:r>
              <a:rPr lang="ru-RU" dirty="0" err="1"/>
              <a:t>Nest</a:t>
            </a:r>
            <a:r>
              <a:rPr lang="ru-RU" dirty="0"/>
              <a:t> (Гнездо) закрытый район. Чистота, порядок, высокие технологии и абсолютная безопасность для его жителей.</a:t>
            </a:r>
          </a:p>
          <a:p>
            <a:r>
              <a:rPr lang="ru-RU" dirty="0" err="1"/>
              <a:t>Outskirts</a:t>
            </a:r>
            <a:r>
              <a:rPr lang="ru-RU" dirty="0"/>
              <a:t> (Окраины) Ничья земля. Заброшенные и опасные территории. Полный упадок и тайны.</a:t>
            </a:r>
          </a:p>
          <a:p>
            <a:r>
              <a:rPr lang="ru-RU" dirty="0"/>
              <a:t>Central </a:t>
            </a:r>
            <a:r>
              <a:rPr lang="ru-RU" dirty="0" err="1"/>
              <a:t>Hub</a:t>
            </a:r>
            <a:r>
              <a:rPr lang="ru-RU" dirty="0"/>
              <a:t> (Центральный Узел) Правительство Главы и политический центр. Постоянное присутствие сил безопасности, архитектура, внушающая трепет.</a:t>
            </a:r>
          </a:p>
          <a:p>
            <a:r>
              <a:rPr lang="ru-RU" dirty="0"/>
              <a:t>Industrial Zone (Промзона) Производственные корпорации</a:t>
            </a:r>
            <a:r>
              <a:rPr lang="en-US" dirty="0"/>
              <a:t>:</a:t>
            </a:r>
            <a:r>
              <a:rPr lang="ru-RU" dirty="0"/>
              <a:t> дым, шум, непрерывное производство. Рабочие живут здесь же в специальных блоках.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96A372-23E6-D6E5-3F51-0EC0E9D58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12.10.2025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008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BE696D-89E2-55A0-9AAD-59B4344B7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Государственная символика</a:t>
            </a:r>
          </a:p>
        </p:txBody>
      </p:sp>
      <p:pic>
        <p:nvPicPr>
          <p:cNvPr id="6" name="Объект 5" descr="Изображение выглядит как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0E63A82-C55F-D656-4C3F-BAF0D97760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88" y="2211705"/>
            <a:ext cx="5143500" cy="3429000"/>
          </a:xfrm>
        </p:spPr>
      </p:pic>
      <p:sp>
        <p:nvSpPr>
          <p:cNvPr id="4" name="Дата 3">
            <a:extLst>
              <a:ext uri="{FF2B5EF4-FFF2-40B4-BE49-F238E27FC236}">
                <a16:creationId xmlns:a16="http://schemas.microsoft.com/office/drawing/2014/main" id="{9E7CE6DF-1135-9ABD-6629-BD87FD8B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12.10.2025</a:t>
            </a:fld>
            <a:endParaRPr lang="en-US" dirty="0"/>
          </a:p>
        </p:txBody>
      </p:sp>
      <p:pic>
        <p:nvPicPr>
          <p:cNvPr id="8" name="Рисунок 7" descr="Изображение выглядит как рисунок, зарисовка, символ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114FC70-3380-852C-4800-27C0A810BD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877" y="2211705"/>
            <a:ext cx="5143500" cy="3429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33CD45A-1104-8E90-6170-6D9A323ECEFB}"/>
              </a:ext>
            </a:extLst>
          </p:cNvPr>
          <p:cNvSpPr txBox="1"/>
          <p:nvPr/>
        </p:nvSpPr>
        <p:spPr>
          <a:xfrm>
            <a:off x="1723597" y="5745718"/>
            <a:ext cx="2920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+mj-lt"/>
              </a:rPr>
              <a:t>Флаг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5834B3-8626-8576-66FF-57DD1080DED8}"/>
              </a:ext>
            </a:extLst>
          </p:cNvPr>
          <p:cNvSpPr txBox="1"/>
          <p:nvPr/>
        </p:nvSpPr>
        <p:spPr>
          <a:xfrm>
            <a:off x="7627386" y="5745718"/>
            <a:ext cx="2920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+mj-lt"/>
              </a:rPr>
              <a:t>Герб</a:t>
            </a:r>
          </a:p>
        </p:txBody>
      </p:sp>
    </p:spTree>
    <p:extLst>
      <p:ext uri="{BB962C8B-B14F-4D97-AF65-F5344CB8AC3E}">
        <p14:creationId xmlns:p14="http://schemas.microsoft.com/office/powerpoint/2010/main" val="2400894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AADB26-FA4A-34C1-1511-249328FE3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Спасибо </a:t>
            </a:r>
            <a:r>
              <a:rPr lang="ru-RU"/>
              <a:t>за внимание!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B91205-49F3-9B05-5667-D020193AA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79C591-67F0-0759-764D-3DF70D81A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3EFA117-2261-4A1D-8BE7-0B7E6A1366C0}" type="datetime1">
              <a:rPr lang="ru-RU" smtClean="0"/>
              <a:t>12.10.2025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640528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ие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95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{F1175293-111F-4BBA-999C-B1DEF464FA94}TFf0a5ceae-4542-492d-822e-d65a94fb0e1e19154062_win32-8070a709061f</Template>
  <TotalTime>78</TotalTime>
  <Words>455</Words>
  <Application>Microsoft Office PowerPoint</Application>
  <PresentationFormat>Широкоэкранный</PresentationFormat>
  <Paragraphs>42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Bookman Old Style</vt:lpstr>
      <vt:lpstr>Calibri</vt:lpstr>
      <vt:lpstr>Franklin Gothic Book</vt:lpstr>
      <vt:lpstr>Пользовательские</vt:lpstr>
      <vt:lpstr>«Город»</vt:lpstr>
      <vt:lpstr>Территориальное устройство</vt:lpstr>
      <vt:lpstr>Форма правления и идеология</vt:lpstr>
      <vt:lpstr>Форма правления и идеология</vt:lpstr>
      <vt:lpstr>Карта</vt:lpstr>
      <vt:lpstr>Налоговая система</vt:lpstr>
      <vt:lpstr>Районы</vt:lpstr>
      <vt:lpstr>Государственная символика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2</cp:revision>
  <dcterms:created xsi:type="dcterms:W3CDTF">2025-10-12T08:21:53Z</dcterms:created>
  <dcterms:modified xsi:type="dcterms:W3CDTF">2025-10-12T17:33:58Z</dcterms:modified>
</cp:coreProperties>
</file>